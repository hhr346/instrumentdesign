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6" r:id="rId5"/>
    <p:sldId id="271" r:id="rId6"/>
    <p:sldId id="272" r:id="rId7"/>
    <p:sldId id="268" r:id="rId8"/>
    <p:sldId id="273" r:id="rId9"/>
    <p:sldId id="265" r:id="rId10"/>
    <p:sldId id="274" r:id="rId11"/>
    <p:sldId id="262"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GI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机器狗</a:t>
            </a:r>
            <a:r>
              <a:rPr lang="en-US" altLang="zh-CN"/>
              <a:t>Simulink</a:t>
            </a:r>
            <a:r>
              <a:rPr lang="zh-CN" altLang="en-US"/>
              <a:t>仿真及</a:t>
            </a:r>
            <a:br>
              <a:rPr lang="zh-CN" altLang="en-US"/>
            </a:br>
            <a:r>
              <a:rPr lang="zh-CN" altLang="en-US"/>
              <a:t>正</a:t>
            </a:r>
            <a:r>
              <a:rPr lang="zh-CN" altLang="en-US"/>
              <a:t>运动学分析</a:t>
            </a:r>
            <a:endParaRPr lang="zh-CN" altLang="en-US"/>
          </a:p>
        </p:txBody>
      </p:sp>
      <p:sp>
        <p:nvSpPr>
          <p:cNvPr id="3" name="副标题 2"/>
          <p:cNvSpPr>
            <a:spLocks noGrp="1"/>
          </p:cNvSpPr>
          <p:nvPr>
            <p:ph type="subTitle" idx="1"/>
          </p:nvPr>
        </p:nvSpPr>
        <p:spPr/>
        <p:txBody>
          <a:bodyPr/>
          <a:p>
            <a:r>
              <a:rPr lang="zh-CN" altLang="en-US"/>
              <a:t>侯红日</a:t>
            </a:r>
            <a:r>
              <a:rPr lang="en-US" altLang="zh-CN"/>
              <a:t>PB19050979</a:t>
            </a:r>
            <a:endParaRPr lang="en-US" altLang="zh-CN"/>
          </a:p>
          <a:p>
            <a:r>
              <a:rPr lang="en-US" altLang="zh-CN"/>
              <a:t>20221025</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20345" y="73025"/>
            <a:ext cx="49745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导入各部件</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3" name="图片 2"/>
          <p:cNvPicPr>
            <a:picLocks noChangeAspect="1"/>
          </p:cNvPicPr>
          <p:nvPr/>
        </p:nvPicPr>
        <p:blipFill>
          <a:blip r:embed="rId1"/>
          <a:srcRect t="2556" r="1065"/>
          <a:stretch>
            <a:fillRect/>
          </a:stretch>
        </p:blipFill>
        <p:spPr>
          <a:xfrm>
            <a:off x="345440" y="3620770"/>
            <a:ext cx="4070985" cy="1379855"/>
          </a:xfrm>
          <a:prstGeom prst="rect">
            <a:avLst/>
          </a:prstGeom>
        </p:spPr>
      </p:pic>
      <p:pic>
        <p:nvPicPr>
          <p:cNvPr id="5" name="图片 4"/>
          <p:cNvPicPr>
            <a:picLocks noChangeAspect="1"/>
          </p:cNvPicPr>
          <p:nvPr/>
        </p:nvPicPr>
        <p:blipFill>
          <a:blip r:embed="rId2"/>
          <a:srcRect t="4389" b="5725"/>
          <a:stretch>
            <a:fillRect/>
          </a:stretch>
        </p:blipFill>
        <p:spPr>
          <a:xfrm>
            <a:off x="269240" y="5168900"/>
            <a:ext cx="4495800" cy="1495425"/>
          </a:xfrm>
          <a:prstGeom prst="rect">
            <a:avLst/>
          </a:prstGeom>
        </p:spPr>
      </p:pic>
      <p:pic>
        <p:nvPicPr>
          <p:cNvPr id="6" name="图片 5"/>
          <p:cNvPicPr>
            <a:picLocks noChangeAspect="1"/>
          </p:cNvPicPr>
          <p:nvPr/>
        </p:nvPicPr>
        <p:blipFill>
          <a:blip r:embed="rId3"/>
          <a:stretch>
            <a:fillRect/>
          </a:stretch>
        </p:blipFill>
        <p:spPr>
          <a:xfrm>
            <a:off x="553720" y="1495425"/>
            <a:ext cx="3523615" cy="1470660"/>
          </a:xfrm>
          <a:prstGeom prst="rect">
            <a:avLst/>
          </a:prstGeom>
        </p:spPr>
      </p:pic>
      <p:pic>
        <p:nvPicPr>
          <p:cNvPr id="7" name="图片 6"/>
          <p:cNvPicPr>
            <a:picLocks noChangeAspect="1"/>
          </p:cNvPicPr>
          <p:nvPr/>
        </p:nvPicPr>
        <p:blipFill>
          <a:blip r:embed="rId4"/>
          <a:stretch>
            <a:fillRect/>
          </a:stretch>
        </p:blipFill>
        <p:spPr>
          <a:xfrm>
            <a:off x="5469255" y="1192530"/>
            <a:ext cx="6217285" cy="3088005"/>
          </a:xfrm>
          <a:prstGeom prst="rect">
            <a:avLst/>
          </a:prstGeom>
        </p:spPr>
      </p:pic>
      <p:sp>
        <p:nvSpPr>
          <p:cNvPr id="8" name="文本框 7"/>
          <p:cNvSpPr txBox="1"/>
          <p:nvPr/>
        </p:nvSpPr>
        <p:spPr>
          <a:xfrm>
            <a:off x="6153785" y="5400040"/>
            <a:ext cx="5405755" cy="645160"/>
          </a:xfrm>
          <a:prstGeom prst="rect">
            <a:avLst/>
          </a:prstGeom>
          <a:noFill/>
        </p:spPr>
        <p:txBody>
          <a:bodyPr wrap="square" rtlCol="0">
            <a:spAutoFit/>
          </a:bodyPr>
          <a:p>
            <a:r>
              <a:rPr lang="en-US" altLang="zh-CN">
                <a:latin typeface="黑体" panose="02010609060101010101" charset="-122"/>
                <a:ea typeface="黑体" panose="02010609060101010101" charset="-122"/>
                <a:cs typeface="黑体" panose="02010609060101010101" charset="-122"/>
              </a:rPr>
              <a:t>Simulink</a:t>
            </a:r>
            <a:r>
              <a:rPr lang="zh-CN" altLang="en-US">
                <a:latin typeface="黑体" panose="02010609060101010101" charset="-122"/>
                <a:ea typeface="黑体" panose="02010609060101010101" charset="-122"/>
                <a:cs typeface="黑体" panose="02010609060101010101" charset="-122"/>
              </a:rPr>
              <a:t>导入身体和腿部的三个构件并进行编译仿真，从而将模型导入</a:t>
            </a:r>
            <a:r>
              <a:rPr lang="en-US" altLang="zh-CN">
                <a:latin typeface="黑体" panose="02010609060101010101" charset="-122"/>
                <a:ea typeface="黑体" panose="02010609060101010101" charset="-122"/>
                <a:cs typeface="黑体" panose="02010609060101010101" charset="-122"/>
              </a:rPr>
              <a:t>Simulink</a:t>
            </a:r>
            <a:endParaRPr lang="zh-CN" altLang="en-US">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20345" y="73025"/>
            <a:ext cx="49745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构建运动副</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p:cNvPicPr>
            <a:picLocks noChangeAspect="1"/>
          </p:cNvPicPr>
          <p:nvPr/>
        </p:nvPicPr>
        <p:blipFill>
          <a:blip r:embed="rId1"/>
          <a:stretch>
            <a:fillRect/>
          </a:stretch>
        </p:blipFill>
        <p:spPr>
          <a:xfrm>
            <a:off x="332740" y="841375"/>
            <a:ext cx="5613400" cy="5505450"/>
          </a:xfrm>
          <a:prstGeom prst="rect">
            <a:avLst/>
          </a:prstGeom>
        </p:spPr>
      </p:pic>
      <p:sp>
        <p:nvSpPr>
          <p:cNvPr id="3" name="文本框 2"/>
          <p:cNvSpPr txBox="1"/>
          <p:nvPr/>
        </p:nvSpPr>
        <p:spPr>
          <a:xfrm>
            <a:off x="6680835" y="5085080"/>
            <a:ext cx="4272280" cy="922020"/>
          </a:xfrm>
          <a:prstGeom prst="rect">
            <a:avLst/>
          </a:prstGeom>
          <a:noFill/>
        </p:spPr>
        <p:txBody>
          <a:bodyPr wrap="square" rtlCol="0">
            <a:spAutoFit/>
          </a:bodyPr>
          <a:p>
            <a:r>
              <a:rPr lang="zh-CN" altLang="en-US">
                <a:latin typeface="黑体" panose="02010609060101010101" charset="-122"/>
                <a:ea typeface="黑体" panose="02010609060101010101" charset="-122"/>
              </a:rPr>
              <a:t>导入三个腿部构件与身体互相之间的连接点的运动副来构建运动关系，否则为刚性连接</a:t>
            </a:r>
            <a:endParaRPr lang="zh-CN" altLang="en-US">
              <a:latin typeface="黑体" panose="02010609060101010101" charset="-122"/>
              <a:ea typeface="黑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46050" y="73025"/>
            <a:ext cx="55333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简单运动仿真</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p:cNvPicPr>
            <a:picLocks noChangeAspect="1"/>
          </p:cNvPicPr>
          <p:nvPr/>
        </p:nvPicPr>
        <p:blipFill>
          <a:blip r:embed="rId1"/>
          <a:stretch>
            <a:fillRect/>
          </a:stretch>
        </p:blipFill>
        <p:spPr>
          <a:xfrm>
            <a:off x="146050" y="1704975"/>
            <a:ext cx="6007735" cy="4062730"/>
          </a:xfrm>
          <a:prstGeom prst="rect">
            <a:avLst/>
          </a:prstGeom>
        </p:spPr>
      </p:pic>
      <p:sp>
        <p:nvSpPr>
          <p:cNvPr id="3" name="文本框 2"/>
          <p:cNvSpPr txBox="1"/>
          <p:nvPr/>
        </p:nvSpPr>
        <p:spPr>
          <a:xfrm>
            <a:off x="7039610" y="4485640"/>
            <a:ext cx="4551680" cy="922020"/>
          </a:xfrm>
          <a:prstGeom prst="rect">
            <a:avLst/>
          </a:prstGeom>
          <a:noFill/>
        </p:spPr>
        <p:txBody>
          <a:bodyPr wrap="square" rtlCol="0">
            <a:spAutoFit/>
          </a:bodyPr>
          <a:p>
            <a:r>
              <a:rPr lang="zh-CN" altLang="en-US">
                <a:latin typeface="黑体" panose="02010609060101010101" charset="-122"/>
                <a:ea typeface="黑体" panose="02010609060101010101" charset="-122"/>
              </a:rPr>
              <a:t>设置运动的波形发生器，使得四条腿可以运动；此处仅设置了髋关节和大腿之间的运动副运动关系，步态规划部分再详细规划</a:t>
            </a:r>
            <a:endParaRPr lang="zh-CN" altLang="en-US">
              <a:latin typeface="黑体" panose="02010609060101010101" charset="-122"/>
              <a:ea typeface="黑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46050" y="73025"/>
            <a:ext cx="55333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简单运动仿真</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3" name="图片 2" descr="运动仿真_Trim 00_00_00-00_00_30"/>
          <p:cNvPicPr>
            <a:picLocks noChangeAspect="1"/>
          </p:cNvPicPr>
          <p:nvPr/>
        </p:nvPicPr>
        <p:blipFill>
          <a:blip r:embed="rId1"/>
          <a:stretch>
            <a:fillRect/>
          </a:stretch>
        </p:blipFill>
        <p:spPr>
          <a:xfrm>
            <a:off x="687705" y="1106170"/>
            <a:ext cx="10248900" cy="5252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28600" y="94615"/>
            <a:ext cx="44157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力学反馈</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p:cNvPicPr>
            <a:picLocks noChangeAspect="1"/>
          </p:cNvPicPr>
          <p:nvPr/>
        </p:nvPicPr>
        <p:blipFill>
          <a:blip r:embed="rId1"/>
          <a:stretch>
            <a:fillRect/>
          </a:stretch>
        </p:blipFill>
        <p:spPr>
          <a:xfrm>
            <a:off x="380365" y="1743710"/>
            <a:ext cx="5643880" cy="3370580"/>
          </a:xfrm>
          <a:prstGeom prst="rect">
            <a:avLst/>
          </a:prstGeom>
        </p:spPr>
      </p:pic>
      <p:sp>
        <p:nvSpPr>
          <p:cNvPr id="3" name="文本框 2"/>
          <p:cNvSpPr txBox="1"/>
          <p:nvPr/>
        </p:nvSpPr>
        <p:spPr>
          <a:xfrm>
            <a:off x="7112635" y="4024630"/>
            <a:ext cx="3431540" cy="922020"/>
          </a:xfrm>
          <a:prstGeom prst="rect">
            <a:avLst/>
          </a:prstGeom>
          <a:noFill/>
        </p:spPr>
        <p:txBody>
          <a:bodyPr wrap="square" rtlCol="0">
            <a:spAutoFit/>
          </a:bodyPr>
          <a:p>
            <a:r>
              <a:rPr lang="zh-CN" altLang="en-US">
                <a:latin typeface="黑体" panose="02010609060101010101" charset="-122"/>
                <a:ea typeface="黑体" panose="02010609060101010101" charset="-122"/>
              </a:rPr>
              <a:t>确定力学反馈，使得身体与平面之间存在力学反馈，以及四条腿的末端与平面之间的力学反馈</a:t>
            </a:r>
            <a:endParaRPr lang="zh-CN" altLang="en-US">
              <a:latin typeface="黑体" panose="02010609060101010101" charset="-122"/>
              <a:ea typeface="黑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28600" y="94615"/>
            <a:ext cx="4415790" cy="768350"/>
          </a:xfrm>
          <a:prstGeom prst="rect">
            <a:avLst/>
          </a:prstGeom>
          <a:noFill/>
          <a:ln>
            <a:noFill/>
          </a:ln>
        </p:spPr>
        <p:txBody>
          <a:bodyPr wrap="none" rtlCol="0" anchor="t">
            <a:spAutoFit/>
          </a:bodyPr>
          <a:p>
            <a:pPr algn="ctr"/>
            <a:r>
              <a:rPr lang="en-US" altLang="zh-CN" sz="4400" b="1">
                <a:solidFill>
                  <a:schemeClr val="accent1"/>
                </a:solidFill>
                <a:effectLst>
                  <a:outerShdw blurRad="38100" dist="25400" dir="5400000" algn="ctr" rotWithShape="0">
                    <a:srgbClr val="6E747A">
                      <a:alpha val="43000"/>
                    </a:srgbClr>
                  </a:outerShdw>
                </a:effectLst>
              </a:rPr>
              <a:t>Simulink</a:t>
            </a:r>
            <a:r>
              <a:rPr lang="zh-CN" altLang="en-US" sz="4400" b="1">
                <a:solidFill>
                  <a:schemeClr val="accent1"/>
                </a:solidFill>
                <a:effectLst>
                  <a:outerShdw blurRad="38100" dist="25400" dir="5400000" algn="ctr" rotWithShape="0">
                    <a:srgbClr val="6E747A">
                      <a:alpha val="43000"/>
                    </a:srgbClr>
                  </a:outerShdw>
                </a:effectLst>
              </a:rPr>
              <a:t>力学反馈</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descr="力学反馈 00_00_00-00_00_30"/>
          <p:cNvPicPr>
            <a:picLocks noChangeAspect="1"/>
          </p:cNvPicPr>
          <p:nvPr/>
        </p:nvPicPr>
        <p:blipFill>
          <a:blip r:embed="rId1"/>
          <a:stretch>
            <a:fillRect/>
          </a:stretch>
        </p:blipFill>
        <p:spPr>
          <a:xfrm>
            <a:off x="965835" y="1243965"/>
            <a:ext cx="9620250" cy="49307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14630" y="80645"/>
            <a:ext cx="3535680" cy="768350"/>
          </a:xfrm>
          <a:prstGeom prst="rect">
            <a:avLst/>
          </a:prstGeom>
          <a:noFill/>
          <a:ln>
            <a:noFill/>
          </a:ln>
        </p:spPr>
        <p:txBody>
          <a:bodyPr wrap="none" rtlCol="0" anchor="t">
            <a:spAutoFit/>
          </a:bodyPr>
          <a:p>
            <a:pPr algn="ctr"/>
            <a:r>
              <a:rPr lang="zh-CN" altLang="en-US" sz="4400" b="1">
                <a:solidFill>
                  <a:schemeClr val="accent1"/>
                </a:solidFill>
                <a:effectLst>
                  <a:outerShdw blurRad="38100" dist="25400" dir="5400000" algn="ctr" rotWithShape="0">
                    <a:srgbClr val="6E747A">
                      <a:alpha val="43000"/>
                    </a:srgbClr>
                  </a:outerShdw>
                </a:effectLst>
              </a:rPr>
              <a:t>正</a:t>
            </a:r>
            <a:r>
              <a:rPr lang="zh-CN" altLang="en-US" sz="4400" b="1">
                <a:solidFill>
                  <a:schemeClr val="accent1"/>
                </a:solidFill>
                <a:effectLst>
                  <a:outerShdw blurRad="38100" dist="25400" dir="5400000" algn="ctr" rotWithShape="0">
                    <a:srgbClr val="6E747A">
                      <a:alpha val="43000"/>
                    </a:srgbClr>
                  </a:outerShdw>
                </a:effectLst>
              </a:rPr>
              <a:t>运动学分析</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descr="4897ED03F7B03E6768DA3A8877220CC7"/>
          <p:cNvPicPr>
            <a:picLocks noChangeAspect="1"/>
          </p:cNvPicPr>
          <p:nvPr/>
        </p:nvPicPr>
        <p:blipFill>
          <a:blip r:embed="rId1"/>
          <a:srcRect b="57327"/>
          <a:stretch>
            <a:fillRect/>
          </a:stretch>
        </p:blipFill>
        <p:spPr>
          <a:xfrm>
            <a:off x="453390" y="937260"/>
            <a:ext cx="9535160" cy="57550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36855" y="102235"/>
            <a:ext cx="3535680" cy="768350"/>
          </a:xfrm>
          <a:prstGeom prst="rect">
            <a:avLst/>
          </a:prstGeom>
          <a:noFill/>
          <a:ln>
            <a:noFill/>
          </a:ln>
        </p:spPr>
        <p:txBody>
          <a:bodyPr wrap="none" rtlCol="0" anchor="t">
            <a:spAutoFit/>
          </a:bodyPr>
          <a:p>
            <a:pPr algn="ctr"/>
            <a:r>
              <a:rPr lang="zh-CN" altLang="en-US" sz="4400" b="1">
                <a:solidFill>
                  <a:schemeClr val="accent1"/>
                </a:solidFill>
                <a:effectLst>
                  <a:outerShdw blurRad="38100" dist="25400" dir="5400000" algn="ctr" rotWithShape="0">
                    <a:srgbClr val="6E747A">
                      <a:alpha val="43000"/>
                    </a:srgbClr>
                  </a:outerShdw>
                </a:effectLst>
              </a:rPr>
              <a:t>正</a:t>
            </a:r>
            <a:r>
              <a:rPr lang="zh-CN" altLang="en-US" sz="4400" b="1">
                <a:solidFill>
                  <a:schemeClr val="accent1"/>
                </a:solidFill>
                <a:effectLst>
                  <a:outerShdw blurRad="38100" dist="25400" dir="5400000" algn="ctr" rotWithShape="0">
                    <a:srgbClr val="6E747A">
                      <a:alpha val="43000"/>
                    </a:srgbClr>
                  </a:outerShdw>
                </a:effectLst>
              </a:rPr>
              <a:t>运动学分析</a:t>
            </a:r>
            <a:endParaRPr lang="zh-CN" altLang="en-US" sz="4400" b="1">
              <a:solidFill>
                <a:schemeClr val="accent1"/>
              </a:solidFill>
              <a:effectLst>
                <a:outerShdw blurRad="38100" dist="25400" dir="5400000" algn="ctr" rotWithShape="0">
                  <a:srgbClr val="6E747A">
                    <a:alpha val="43000"/>
                  </a:srgbClr>
                </a:outerShdw>
              </a:effectLst>
            </a:endParaRPr>
          </a:p>
        </p:txBody>
      </p:sp>
      <p:pic>
        <p:nvPicPr>
          <p:cNvPr id="2" name="图片 1" descr="4897ED03F7B03E6768DA3A8877220CC7"/>
          <p:cNvPicPr>
            <a:picLocks noChangeAspect="1"/>
          </p:cNvPicPr>
          <p:nvPr/>
        </p:nvPicPr>
        <p:blipFill>
          <a:blip r:embed="rId1"/>
          <a:srcRect t="40590" b="15355"/>
          <a:stretch>
            <a:fillRect/>
          </a:stretch>
        </p:blipFill>
        <p:spPr>
          <a:xfrm>
            <a:off x="481330" y="1036320"/>
            <a:ext cx="8213725" cy="5118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22555" y="58420"/>
            <a:ext cx="2418080" cy="768350"/>
          </a:xfrm>
          <a:prstGeom prst="rect">
            <a:avLst/>
          </a:prstGeom>
          <a:noFill/>
          <a:ln>
            <a:noFill/>
          </a:ln>
        </p:spPr>
        <p:txBody>
          <a:bodyPr wrap="none" rtlCol="0" anchor="t">
            <a:spAutoFit/>
          </a:bodyPr>
          <a:p>
            <a:pPr algn="ctr"/>
            <a:r>
              <a:rPr lang="zh-CN" altLang="en-US" sz="4400" b="1">
                <a:solidFill>
                  <a:schemeClr val="accent1"/>
                </a:solidFill>
                <a:effectLst>
                  <a:outerShdw blurRad="38100" dist="25400" dir="5400000" algn="ctr" rotWithShape="0">
                    <a:srgbClr val="6E747A">
                      <a:alpha val="43000"/>
                    </a:srgbClr>
                  </a:outerShdw>
                </a:effectLst>
              </a:rPr>
              <a:t>后期工作</a:t>
            </a:r>
            <a:endParaRPr lang="zh-CN" altLang="en-US" sz="4400" b="1">
              <a:solidFill>
                <a:schemeClr val="accent1"/>
              </a:solidFill>
              <a:effectLst>
                <a:outerShdw blurRad="38100" dist="25400" dir="5400000" algn="ctr" rotWithShape="0">
                  <a:srgbClr val="6E747A">
                    <a:alpha val="43000"/>
                  </a:srgbClr>
                </a:outerShdw>
              </a:effectLst>
            </a:endParaRPr>
          </a:p>
        </p:txBody>
      </p:sp>
      <p:sp>
        <p:nvSpPr>
          <p:cNvPr id="3" name="文本框 2"/>
          <p:cNvSpPr txBox="1"/>
          <p:nvPr/>
        </p:nvSpPr>
        <p:spPr>
          <a:xfrm>
            <a:off x="379730" y="1456055"/>
            <a:ext cx="7294880" cy="2245360"/>
          </a:xfrm>
          <a:prstGeom prst="rect">
            <a:avLst/>
          </a:prstGeom>
          <a:noFill/>
        </p:spPr>
        <p:txBody>
          <a:bodyPr wrap="none" rtlCol="0">
            <a:spAutoFit/>
          </a:bodyPr>
          <a:p>
            <a:r>
              <a:rPr lang="en-US" altLang="zh-CN" sz="2000">
                <a:latin typeface="黑体" panose="02010609060101010101" charset="-122"/>
                <a:ea typeface="黑体" panose="02010609060101010101" charset="-122"/>
                <a:cs typeface="黑体" panose="02010609060101010101" charset="-122"/>
              </a:rPr>
              <a:t>1.</a:t>
            </a:r>
            <a:r>
              <a:rPr lang="zh-CN" altLang="en-US" sz="2000">
                <a:latin typeface="黑体" panose="02010609060101010101" charset="-122"/>
                <a:ea typeface="黑体" panose="02010609060101010101" charset="-122"/>
                <a:cs typeface="黑体" panose="02010609060101010101" charset="-122"/>
              </a:rPr>
              <a:t>进行逆运动学分析并用程序实现</a:t>
            </a:r>
            <a:r>
              <a:rPr lang="zh-CN" altLang="en-US" sz="2000">
                <a:latin typeface="黑体" panose="02010609060101010101" charset="-122"/>
                <a:ea typeface="黑体" panose="02010609060101010101" charset="-122"/>
                <a:cs typeface="黑体" panose="02010609060101010101" charset="-122"/>
              </a:rPr>
              <a:t>，进行步态规划方面的调研</a:t>
            </a:r>
            <a:r>
              <a:rPr lang="zh-CN" altLang="en-US" sz="2000">
                <a:latin typeface="黑体" panose="02010609060101010101" charset="-122"/>
                <a:ea typeface="黑体" panose="02010609060101010101" charset="-122"/>
                <a:cs typeface="黑体" panose="02010609060101010101" charset="-122"/>
              </a:rPr>
              <a:t>；</a:t>
            </a:r>
            <a:endParaRPr lang="zh-CN" altLang="en-US" sz="2000">
              <a:latin typeface="黑体" panose="02010609060101010101" charset="-122"/>
              <a:ea typeface="黑体" panose="02010609060101010101" charset="-122"/>
              <a:cs typeface="黑体" panose="02010609060101010101" charset="-122"/>
            </a:endParaRPr>
          </a:p>
          <a:p>
            <a:endParaRPr lang="zh-CN" altLang="en-US" sz="2000">
              <a:latin typeface="黑体" panose="02010609060101010101" charset="-122"/>
              <a:ea typeface="黑体" panose="02010609060101010101" charset="-122"/>
              <a:cs typeface="黑体" panose="02010609060101010101" charset="-122"/>
            </a:endParaRPr>
          </a:p>
          <a:p>
            <a:r>
              <a:rPr lang="en-US" altLang="zh-CN" sz="2000">
                <a:latin typeface="黑体" panose="02010609060101010101" charset="-122"/>
                <a:ea typeface="黑体" panose="02010609060101010101" charset="-122"/>
                <a:cs typeface="黑体" panose="02010609060101010101" charset="-122"/>
              </a:rPr>
              <a:t>2.</a:t>
            </a:r>
            <a:r>
              <a:rPr lang="zh-CN" altLang="en-US" sz="2000">
                <a:latin typeface="黑体" panose="02010609060101010101" charset="-122"/>
                <a:ea typeface="黑体" panose="02010609060101010101" charset="-122"/>
                <a:cs typeface="黑体" panose="02010609060101010101" charset="-122"/>
              </a:rPr>
              <a:t>使用</a:t>
            </a:r>
            <a:r>
              <a:rPr lang="en-US" altLang="zh-CN" sz="2000">
                <a:latin typeface="黑体" panose="02010609060101010101" charset="-122"/>
                <a:ea typeface="黑体" panose="02010609060101010101" charset="-122"/>
                <a:cs typeface="黑体" panose="02010609060101010101" charset="-122"/>
              </a:rPr>
              <a:t>Matlab</a:t>
            </a:r>
            <a:r>
              <a:rPr lang="zh-CN" altLang="en-US" sz="2000">
                <a:latin typeface="黑体" panose="02010609060101010101" charset="-122"/>
                <a:ea typeface="黑体" panose="02010609060101010101" charset="-122"/>
                <a:cs typeface="黑体" panose="02010609060101010101" charset="-122"/>
              </a:rPr>
              <a:t>的</a:t>
            </a:r>
            <a:r>
              <a:rPr lang="en-US" altLang="zh-CN" sz="2000">
                <a:latin typeface="黑体" panose="02010609060101010101" charset="-122"/>
                <a:ea typeface="黑体" panose="02010609060101010101" charset="-122"/>
                <a:cs typeface="黑体" panose="02010609060101010101" charset="-122"/>
              </a:rPr>
              <a:t>Simulink</a:t>
            </a:r>
            <a:r>
              <a:rPr lang="zh-CN" altLang="en-US" sz="2000">
                <a:latin typeface="黑体" panose="02010609060101010101" charset="-122"/>
                <a:ea typeface="黑体" panose="02010609060101010101" charset="-122"/>
                <a:cs typeface="黑体" panose="02010609060101010101" charset="-122"/>
              </a:rPr>
              <a:t>模块进行步态规划</a:t>
            </a:r>
            <a:r>
              <a:rPr lang="zh-CN" altLang="en-US" sz="2000">
                <a:latin typeface="黑体" panose="02010609060101010101" charset="-122"/>
                <a:ea typeface="黑体" panose="02010609060101010101" charset="-122"/>
                <a:cs typeface="黑体" panose="02010609060101010101" charset="-122"/>
              </a:rPr>
              <a:t>；</a:t>
            </a:r>
            <a:endParaRPr lang="zh-CN" altLang="en-US" sz="2000">
              <a:latin typeface="黑体" panose="02010609060101010101" charset="-122"/>
              <a:ea typeface="黑体" panose="02010609060101010101" charset="-122"/>
              <a:cs typeface="黑体" panose="02010609060101010101" charset="-122"/>
            </a:endParaRPr>
          </a:p>
          <a:p>
            <a:endParaRPr lang="zh-CN" altLang="en-US" sz="2000">
              <a:latin typeface="黑体" panose="02010609060101010101" charset="-122"/>
              <a:ea typeface="黑体" panose="02010609060101010101" charset="-122"/>
              <a:cs typeface="黑体" panose="02010609060101010101" charset="-122"/>
            </a:endParaRPr>
          </a:p>
          <a:p>
            <a:r>
              <a:rPr lang="en-US" altLang="zh-CN" sz="2000">
                <a:latin typeface="黑体" panose="02010609060101010101" charset="-122"/>
                <a:ea typeface="黑体" panose="02010609060101010101" charset="-122"/>
                <a:cs typeface="黑体" panose="02010609060101010101" charset="-122"/>
              </a:rPr>
              <a:t>3.</a:t>
            </a:r>
            <a:r>
              <a:rPr lang="zh-CN" altLang="en-US" sz="2000">
                <a:latin typeface="黑体" panose="02010609060101010101" charset="-122"/>
                <a:ea typeface="黑体" panose="02010609060101010101" charset="-122"/>
                <a:cs typeface="黑体" panose="02010609060101010101" charset="-122"/>
              </a:rPr>
              <a:t>落实机械设计方面的图纸规划；</a:t>
            </a:r>
            <a:endParaRPr lang="zh-CN" altLang="en-US" sz="2000">
              <a:latin typeface="黑体" panose="02010609060101010101" charset="-122"/>
              <a:ea typeface="黑体" panose="02010609060101010101" charset="-122"/>
              <a:cs typeface="黑体" panose="02010609060101010101" charset="-122"/>
            </a:endParaRPr>
          </a:p>
          <a:p>
            <a:endParaRPr lang="zh-CN" altLang="en-US" sz="2000">
              <a:latin typeface="黑体" panose="02010609060101010101" charset="-122"/>
              <a:ea typeface="黑体" panose="02010609060101010101" charset="-122"/>
              <a:cs typeface="黑体" panose="02010609060101010101" charset="-122"/>
            </a:endParaRPr>
          </a:p>
          <a:p>
            <a:r>
              <a:rPr lang="en-US" altLang="zh-CN" sz="2000">
                <a:latin typeface="黑体" panose="02010609060101010101" charset="-122"/>
                <a:ea typeface="黑体" panose="02010609060101010101" charset="-122"/>
                <a:cs typeface="黑体" panose="02010609060101010101" charset="-122"/>
              </a:rPr>
              <a:t>4.</a:t>
            </a:r>
            <a:r>
              <a:rPr lang="zh-CN" altLang="en-US" sz="2000">
                <a:latin typeface="黑体" panose="02010609060101010101" charset="-122"/>
                <a:ea typeface="黑体" panose="02010609060101010101" charset="-122"/>
                <a:cs typeface="黑体" panose="02010609060101010101" charset="-122"/>
              </a:rPr>
              <a:t>进行测量算法等</a:t>
            </a:r>
            <a:r>
              <a:rPr lang="zh-CN" altLang="en-US" sz="2000">
                <a:latin typeface="黑体" panose="02010609060101010101" charset="-122"/>
                <a:ea typeface="黑体" panose="02010609060101010101" charset="-122"/>
                <a:cs typeface="黑体" panose="02010609060101010101" charset="-122"/>
              </a:rPr>
              <a:t>方面的调研及</a:t>
            </a:r>
            <a:r>
              <a:rPr lang="zh-CN" altLang="en-US" sz="2000">
                <a:latin typeface="黑体" panose="02010609060101010101" charset="-122"/>
                <a:ea typeface="黑体" panose="02010609060101010101" charset="-122"/>
                <a:cs typeface="黑体" panose="02010609060101010101" charset="-122"/>
              </a:rPr>
              <a:t>应用。</a:t>
            </a:r>
            <a:endParaRPr lang="zh-CN" altLang="en-US" sz="20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zh-CN" altLang="en-US">
            <a:latin typeface="黑体" panose="02010609060101010101" charset="-122"/>
            <a:ea typeface="黑体" panose="02010609060101010101"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Words>
  <Application>WPS 演示</Application>
  <PresentationFormat>宽屏</PresentationFormat>
  <Paragraphs>39</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宋体</vt:lpstr>
      <vt:lpstr>Wingdings</vt:lpstr>
      <vt:lpstr>黑体</vt:lpstr>
      <vt:lpstr>微软雅黑</vt:lpstr>
      <vt:lpstr>Calibri</vt:lpstr>
      <vt:lpstr>Arial Unicode MS</vt:lpstr>
      <vt:lpstr>Cambria</vt:lpstr>
      <vt:lpstr>Office 主题</vt:lpstr>
      <vt:lpstr>机器狗Simulink仿真及 运动学分析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HHR</dc:creator>
  <cp:lastModifiedBy>樵夫</cp:lastModifiedBy>
  <cp:revision>7</cp:revision>
  <dcterms:created xsi:type="dcterms:W3CDTF">2022-10-06T02:41:00Z</dcterms:created>
  <dcterms:modified xsi:type="dcterms:W3CDTF">2022-10-25T02:59:41Z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2052-11.1.0.9914</vt:lpwstr>
  </property>
</Properties>
</file>